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390aa334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390aa334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8279525" y="3856575"/>
            <a:ext cx="827400" cy="125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6356200" y="2571750"/>
            <a:ext cx="827400" cy="2829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Long term Benefits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7736300" y="2054375"/>
            <a:ext cx="1195500" cy="3867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Georgia"/>
                <a:ea typeface="Georgia"/>
                <a:cs typeface="Georgia"/>
                <a:sym typeface="Georgia"/>
              </a:rPr>
              <a:t>Access safe veg</a:t>
            </a:r>
            <a:endParaRPr b="1"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6608550" y="1524600"/>
            <a:ext cx="781500" cy="354300"/>
          </a:xfrm>
          <a:prstGeom prst="ellipse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Long term costs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58" name="Google Shape;58;p13"/>
          <p:cNvCxnSpPr>
            <a:stCxn id="57" idx="5"/>
            <a:endCxn id="56" idx="1"/>
          </p:cNvCxnSpPr>
          <p:nvPr/>
        </p:nvCxnSpPr>
        <p:spPr>
          <a:xfrm>
            <a:off x="7275602" y="1827014"/>
            <a:ext cx="635700" cy="284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" name="Google Shape;59;p13"/>
          <p:cNvSpPr/>
          <p:nvPr/>
        </p:nvSpPr>
        <p:spPr>
          <a:xfrm>
            <a:off x="8386300" y="4007625"/>
            <a:ext cx="704700" cy="2829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Benefits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8394100" y="4372175"/>
            <a:ext cx="635700" cy="2829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Risks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8394100" y="4729625"/>
            <a:ext cx="635700" cy="282900"/>
          </a:xfrm>
          <a:prstGeom prst="ellipse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Costs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102900" y="-48075"/>
            <a:ext cx="754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rPr>
              <a:t>Impact </a:t>
            </a:r>
            <a:r>
              <a:rPr b="1" lang="en" sz="1800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rPr>
              <a:t>pathway</a:t>
            </a:r>
            <a:r>
              <a:rPr b="1" lang="en" sz="1800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rPr>
              <a:t> of factory vegetable sales</a:t>
            </a:r>
            <a:endParaRPr b="1" sz="1800">
              <a:solidFill>
                <a:srgbClr val="66666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A1924"/>
                </a:solidFill>
                <a:latin typeface="Georgia"/>
                <a:ea typeface="Georgia"/>
                <a:cs typeface="Georgia"/>
                <a:sym typeface="Georgia"/>
              </a:rPr>
              <a:t>Model developed in workshop in Hanoi July, 2023 / should the company invest?</a:t>
            </a:r>
            <a:endParaRPr b="1" sz="1800">
              <a:solidFill>
                <a:srgbClr val="66666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63" name="Google Shape;63;p13"/>
          <p:cNvCxnSpPr>
            <a:stCxn id="55" idx="7"/>
            <a:endCxn id="56" idx="3"/>
          </p:cNvCxnSpPr>
          <p:nvPr/>
        </p:nvCxnSpPr>
        <p:spPr>
          <a:xfrm flipH="1" rot="10800000">
            <a:off x="7062430" y="2384580"/>
            <a:ext cx="849000" cy="2286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" name="Google Shape;64;p13"/>
          <p:cNvCxnSpPr>
            <a:stCxn id="65" idx="6"/>
            <a:endCxn id="55" idx="0"/>
          </p:cNvCxnSpPr>
          <p:nvPr/>
        </p:nvCxnSpPr>
        <p:spPr>
          <a:xfrm>
            <a:off x="6225741" y="2326387"/>
            <a:ext cx="544200" cy="2454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" name="Google Shape;65;p13"/>
          <p:cNvSpPr/>
          <p:nvPr/>
        </p:nvSpPr>
        <p:spPr>
          <a:xfrm>
            <a:off x="5444241" y="2149237"/>
            <a:ext cx="781500" cy="3543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People do not buy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48500" y="620700"/>
            <a:ext cx="1786200" cy="681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Georgia"/>
                <a:ea typeface="Georgia"/>
                <a:cs typeface="Georgia"/>
                <a:sym typeface="Georgia"/>
              </a:rPr>
              <a:t>Should companies invest to create a selling point in the factory to improve access to safe veg for low income households in urban Hanoi?</a:t>
            </a:r>
            <a:endParaRPr b="1"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6190700" y="7375"/>
            <a:ext cx="704700" cy="213600"/>
          </a:xfrm>
          <a:prstGeom prst="ellipse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Capital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68" name="Google Shape;68;p13"/>
          <p:cNvCxnSpPr>
            <a:stCxn id="67" idx="4"/>
            <a:endCxn id="57" idx="0"/>
          </p:cNvCxnSpPr>
          <p:nvPr/>
        </p:nvCxnSpPr>
        <p:spPr>
          <a:xfrm>
            <a:off x="6543050" y="220975"/>
            <a:ext cx="456300" cy="1303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" name="Google Shape;69;p13"/>
          <p:cNvSpPr/>
          <p:nvPr/>
        </p:nvSpPr>
        <p:spPr>
          <a:xfrm>
            <a:off x="5419700" y="82525"/>
            <a:ext cx="781500" cy="369900"/>
          </a:xfrm>
          <a:prstGeom prst="ellipse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Human resources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70" name="Google Shape;70;p13"/>
          <p:cNvCxnSpPr>
            <a:stCxn id="69" idx="5"/>
            <a:endCxn id="57" idx="0"/>
          </p:cNvCxnSpPr>
          <p:nvPr/>
        </p:nvCxnSpPr>
        <p:spPr>
          <a:xfrm>
            <a:off x="6086752" y="398254"/>
            <a:ext cx="912600" cy="11262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" name="Google Shape;71;p13"/>
          <p:cNvSpPr/>
          <p:nvPr/>
        </p:nvSpPr>
        <p:spPr>
          <a:xfrm>
            <a:off x="4930275" y="592250"/>
            <a:ext cx="869700" cy="354300"/>
          </a:xfrm>
          <a:prstGeom prst="ellipse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Legal permission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72" name="Google Shape;72;p13"/>
          <p:cNvCxnSpPr>
            <a:stCxn id="71" idx="5"/>
            <a:endCxn id="57" idx="0"/>
          </p:cNvCxnSpPr>
          <p:nvPr/>
        </p:nvCxnSpPr>
        <p:spPr>
          <a:xfrm>
            <a:off x="5672610" y="894664"/>
            <a:ext cx="1326600" cy="630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" name="Google Shape;73;p13"/>
          <p:cNvSpPr/>
          <p:nvPr/>
        </p:nvSpPr>
        <p:spPr>
          <a:xfrm>
            <a:off x="1859450" y="673325"/>
            <a:ext cx="1053600" cy="282900"/>
          </a:xfrm>
          <a:prstGeom prst="ellipse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Communication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74" name="Google Shape;74;p13"/>
          <p:cNvCxnSpPr>
            <a:stCxn id="73" idx="5"/>
            <a:endCxn id="57" idx="1"/>
          </p:cNvCxnSpPr>
          <p:nvPr/>
        </p:nvCxnSpPr>
        <p:spPr>
          <a:xfrm>
            <a:off x="2758754" y="914795"/>
            <a:ext cx="3964200" cy="661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" name="Google Shape;75;p13"/>
          <p:cNvSpPr/>
          <p:nvPr/>
        </p:nvSpPr>
        <p:spPr>
          <a:xfrm>
            <a:off x="3717528" y="522323"/>
            <a:ext cx="910800" cy="423000"/>
          </a:xfrm>
          <a:prstGeom prst="ellipse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Stakeholder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 engagement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76" name="Google Shape;76;p13"/>
          <p:cNvCxnSpPr>
            <a:stCxn id="75" idx="5"/>
            <a:endCxn id="57" idx="1"/>
          </p:cNvCxnSpPr>
          <p:nvPr/>
        </p:nvCxnSpPr>
        <p:spPr>
          <a:xfrm>
            <a:off x="4494945" y="883376"/>
            <a:ext cx="2228100" cy="693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" name="Google Shape;77;p13"/>
          <p:cNvSpPr/>
          <p:nvPr/>
        </p:nvSpPr>
        <p:spPr>
          <a:xfrm>
            <a:off x="2873281" y="592900"/>
            <a:ext cx="601500" cy="354300"/>
          </a:xfrm>
          <a:prstGeom prst="ellipse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Case study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8" name="Google Shape;78;p13"/>
          <p:cNvSpPr/>
          <p:nvPr/>
        </p:nvSpPr>
        <p:spPr>
          <a:xfrm>
            <a:off x="3439151" y="1136725"/>
            <a:ext cx="601500" cy="282900"/>
          </a:xfrm>
          <a:prstGeom prst="ellipse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Time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" name="Google Shape;79;p13"/>
          <p:cNvSpPr/>
          <p:nvPr/>
        </p:nvSpPr>
        <p:spPr>
          <a:xfrm>
            <a:off x="2069375" y="1013450"/>
            <a:ext cx="910800" cy="432000"/>
          </a:xfrm>
          <a:prstGeom prst="ellipse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Monitoring</a:t>
            </a: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 and evaluation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Google Shape;80;p13"/>
          <p:cNvSpPr/>
          <p:nvPr/>
        </p:nvSpPr>
        <p:spPr>
          <a:xfrm flipH="1">
            <a:off x="2481200" y="3533350"/>
            <a:ext cx="704700" cy="2829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Income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1" name="Google Shape;81;p13"/>
          <p:cNvSpPr/>
          <p:nvPr/>
        </p:nvSpPr>
        <p:spPr>
          <a:xfrm flipH="1">
            <a:off x="2094113" y="3116063"/>
            <a:ext cx="910800" cy="3699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Increase reputation of company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2" name="Google Shape;82;p13"/>
          <p:cNvSpPr/>
          <p:nvPr/>
        </p:nvSpPr>
        <p:spPr>
          <a:xfrm flipH="1">
            <a:off x="3338363" y="4355963"/>
            <a:ext cx="980700" cy="2829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Attract more workers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3" name="Google Shape;83;p13"/>
          <p:cNvSpPr/>
          <p:nvPr/>
        </p:nvSpPr>
        <p:spPr>
          <a:xfrm flipH="1">
            <a:off x="4546363" y="4669425"/>
            <a:ext cx="1091400" cy="4320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Workers want to stay at company for long time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746575" y="4227375"/>
            <a:ext cx="781500" cy="4320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Unstable quantity of vegetables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558800" y="3133675"/>
            <a:ext cx="910800" cy="3699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Reduce safe vegetable quality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86" name="Google Shape;86;p13"/>
          <p:cNvCxnSpPr>
            <a:stCxn id="85" idx="5"/>
            <a:endCxn id="80" idx="6"/>
          </p:cNvCxnSpPr>
          <p:nvPr/>
        </p:nvCxnSpPr>
        <p:spPr>
          <a:xfrm>
            <a:off x="1336216" y="3449404"/>
            <a:ext cx="11451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13"/>
          <p:cNvCxnSpPr>
            <a:stCxn id="82" idx="2"/>
            <a:endCxn id="55" idx="3"/>
          </p:cNvCxnSpPr>
          <p:nvPr/>
        </p:nvCxnSpPr>
        <p:spPr>
          <a:xfrm flipH="1" rot="10800000">
            <a:off x="4319063" y="2813213"/>
            <a:ext cx="2158200" cy="168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3"/>
          <p:cNvCxnSpPr>
            <a:stCxn id="85" idx="6"/>
            <a:endCxn id="81" idx="6"/>
          </p:cNvCxnSpPr>
          <p:nvPr/>
        </p:nvCxnSpPr>
        <p:spPr>
          <a:xfrm flipH="1" rot="10800000">
            <a:off x="1469600" y="3300925"/>
            <a:ext cx="624600" cy="1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3"/>
          <p:cNvCxnSpPr>
            <a:stCxn id="81" idx="2"/>
            <a:endCxn id="55" idx="2"/>
          </p:cNvCxnSpPr>
          <p:nvPr/>
        </p:nvCxnSpPr>
        <p:spPr>
          <a:xfrm flipH="1" rot="10800000">
            <a:off x="3004913" y="2713313"/>
            <a:ext cx="3351300" cy="58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3"/>
          <p:cNvCxnSpPr>
            <a:stCxn id="84" idx="6"/>
            <a:endCxn id="80" idx="6"/>
          </p:cNvCxnSpPr>
          <p:nvPr/>
        </p:nvCxnSpPr>
        <p:spPr>
          <a:xfrm flipH="1" rot="10800000">
            <a:off x="1528075" y="3674775"/>
            <a:ext cx="953100" cy="76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" name="Google Shape;91;p13"/>
          <p:cNvCxnSpPr/>
          <p:nvPr/>
        </p:nvCxnSpPr>
        <p:spPr>
          <a:xfrm flipH="1" rot="10800000">
            <a:off x="3145624" y="2800292"/>
            <a:ext cx="3394800" cy="76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" name="Google Shape;92;p13"/>
          <p:cNvCxnSpPr>
            <a:stCxn id="83" idx="1"/>
            <a:endCxn id="55" idx="3"/>
          </p:cNvCxnSpPr>
          <p:nvPr/>
        </p:nvCxnSpPr>
        <p:spPr>
          <a:xfrm flipH="1" rot="10800000">
            <a:off x="5477931" y="2813290"/>
            <a:ext cx="999300" cy="191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3"/>
          <p:cNvCxnSpPr>
            <a:stCxn id="77" idx="5"/>
            <a:endCxn id="57" idx="1"/>
          </p:cNvCxnSpPr>
          <p:nvPr/>
        </p:nvCxnSpPr>
        <p:spPr>
          <a:xfrm>
            <a:off x="3386693" y="895314"/>
            <a:ext cx="3336300" cy="681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3"/>
          <p:cNvCxnSpPr>
            <a:stCxn id="78" idx="6"/>
            <a:endCxn id="57" idx="2"/>
          </p:cNvCxnSpPr>
          <p:nvPr/>
        </p:nvCxnSpPr>
        <p:spPr>
          <a:xfrm>
            <a:off x="4040651" y="1278175"/>
            <a:ext cx="2568000" cy="4236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3"/>
          <p:cNvCxnSpPr>
            <a:stCxn id="79" idx="6"/>
            <a:endCxn id="57" idx="2"/>
          </p:cNvCxnSpPr>
          <p:nvPr/>
        </p:nvCxnSpPr>
        <p:spPr>
          <a:xfrm>
            <a:off x="2980175" y="1229450"/>
            <a:ext cx="3628500" cy="4722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3"/>
          <p:cNvSpPr/>
          <p:nvPr/>
        </p:nvSpPr>
        <p:spPr>
          <a:xfrm>
            <a:off x="6764113" y="264850"/>
            <a:ext cx="910800" cy="282900"/>
          </a:xfrm>
          <a:prstGeom prst="ellipse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Lower selling price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97" name="Google Shape;97;p13"/>
          <p:cNvCxnSpPr>
            <a:stCxn id="96" idx="4"/>
            <a:endCxn id="57" idx="0"/>
          </p:cNvCxnSpPr>
          <p:nvPr/>
        </p:nvCxnSpPr>
        <p:spPr>
          <a:xfrm flipH="1">
            <a:off x="6999313" y="547750"/>
            <a:ext cx="220200" cy="976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" name="Google Shape;98;p13"/>
          <p:cNvSpPr/>
          <p:nvPr/>
        </p:nvSpPr>
        <p:spPr>
          <a:xfrm>
            <a:off x="7960100" y="308725"/>
            <a:ext cx="1053600" cy="282900"/>
          </a:xfrm>
          <a:prstGeom prst="ellipse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Transportation for veg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8166425" y="656800"/>
            <a:ext cx="910800" cy="282900"/>
          </a:xfrm>
          <a:prstGeom prst="ellipse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Labour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8166425" y="1004875"/>
            <a:ext cx="910800" cy="282900"/>
          </a:xfrm>
          <a:prstGeom prst="ellipse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Overhead cost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7413000" y="7375"/>
            <a:ext cx="910800" cy="282900"/>
          </a:xfrm>
          <a:prstGeom prst="ellipse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Equipments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02" name="Google Shape;102;p13"/>
          <p:cNvCxnSpPr>
            <a:stCxn id="98" idx="2"/>
            <a:endCxn id="57" idx="6"/>
          </p:cNvCxnSpPr>
          <p:nvPr/>
        </p:nvCxnSpPr>
        <p:spPr>
          <a:xfrm flipH="1">
            <a:off x="7390100" y="450175"/>
            <a:ext cx="570000" cy="12516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p13"/>
          <p:cNvCxnSpPr>
            <a:stCxn id="99" idx="2"/>
            <a:endCxn id="57" idx="6"/>
          </p:cNvCxnSpPr>
          <p:nvPr/>
        </p:nvCxnSpPr>
        <p:spPr>
          <a:xfrm flipH="1">
            <a:off x="7390025" y="798250"/>
            <a:ext cx="776400" cy="9036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3"/>
          <p:cNvCxnSpPr>
            <a:stCxn id="100" idx="2"/>
            <a:endCxn id="57" idx="6"/>
          </p:cNvCxnSpPr>
          <p:nvPr/>
        </p:nvCxnSpPr>
        <p:spPr>
          <a:xfrm flipH="1">
            <a:off x="7390025" y="1146325"/>
            <a:ext cx="776400" cy="555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" name="Google Shape;105;p13"/>
          <p:cNvCxnSpPr>
            <a:stCxn id="101" idx="4"/>
            <a:endCxn id="57" idx="6"/>
          </p:cNvCxnSpPr>
          <p:nvPr/>
        </p:nvCxnSpPr>
        <p:spPr>
          <a:xfrm flipH="1">
            <a:off x="7389900" y="290275"/>
            <a:ext cx="478500" cy="1411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" name="Google Shape;106;p13"/>
          <p:cNvSpPr/>
          <p:nvPr/>
        </p:nvSpPr>
        <p:spPr>
          <a:xfrm>
            <a:off x="4312141" y="1547212"/>
            <a:ext cx="781500" cy="3543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People do not like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07" name="Google Shape;107;p13"/>
          <p:cNvCxnSpPr>
            <a:stCxn id="106" idx="6"/>
            <a:endCxn id="65" idx="1"/>
          </p:cNvCxnSpPr>
          <p:nvPr/>
        </p:nvCxnSpPr>
        <p:spPr>
          <a:xfrm>
            <a:off x="5093641" y="1724362"/>
            <a:ext cx="465000" cy="47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" name="Google Shape;108;p13"/>
          <p:cNvSpPr/>
          <p:nvPr/>
        </p:nvSpPr>
        <p:spPr>
          <a:xfrm>
            <a:off x="155000" y="2195050"/>
            <a:ext cx="1053600" cy="4611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latin typeface="Georgia"/>
                <a:ea typeface="Georgia"/>
                <a:cs typeface="Georgia"/>
                <a:sym typeface="Georgia"/>
              </a:rPr>
              <a:t>Custom of behavior (preferent, knowledge, attitude)</a:t>
            </a:r>
            <a:endParaRPr sz="5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691000" y="1608163"/>
            <a:ext cx="980700" cy="3543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Loss (weight and damaged)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1710913" y="1762013"/>
            <a:ext cx="781500" cy="3954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Wrong in </a:t>
            </a: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defineding number of customer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2566163" y="1486584"/>
            <a:ext cx="781500" cy="4320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Wrong in </a:t>
            </a: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defineding</a:t>
            </a: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 potential customer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307400" y="2864309"/>
            <a:ext cx="1053600" cy="2136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latin typeface="Georgia"/>
                <a:ea typeface="Georgia"/>
                <a:cs typeface="Georgia"/>
                <a:sym typeface="Georgia"/>
              </a:rPr>
              <a:t>Inconvenient place</a:t>
            </a:r>
            <a:endParaRPr sz="5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3110013" y="2146363"/>
            <a:ext cx="912600" cy="2829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Higher selling price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7293850" y="3920300"/>
            <a:ext cx="912600" cy="4611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Saving money for food safety issue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7453025" y="2549825"/>
            <a:ext cx="507000" cy="2829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Save cost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8325050" y="2602925"/>
            <a:ext cx="781500" cy="2829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Improve life quality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6129350" y="4312725"/>
            <a:ext cx="1091400" cy="2829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Promote farmer’s products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7336450" y="4531625"/>
            <a:ext cx="827400" cy="2829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Sharing knowledge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6544950" y="4809300"/>
            <a:ext cx="827400" cy="2829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Royal customers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8020350" y="3454925"/>
            <a:ext cx="1053600" cy="2829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Improve meal’s quality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1205375" y="2112275"/>
            <a:ext cx="546000" cy="2415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Stress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1603700" y="2737513"/>
            <a:ext cx="980700" cy="3699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latin typeface="Georgia"/>
                <a:ea typeface="Georgia"/>
                <a:cs typeface="Georgia"/>
                <a:sym typeface="Georgia"/>
              </a:rPr>
              <a:t>Providers/sellers not follow initial commitment</a:t>
            </a:r>
            <a:endParaRPr sz="5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043875" y="2265813"/>
            <a:ext cx="1011300" cy="2829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latin typeface="Georgia"/>
                <a:ea typeface="Georgia"/>
                <a:cs typeface="Georgia"/>
                <a:sym typeface="Georgia"/>
              </a:rPr>
              <a:t>Loss money caused by fault bill</a:t>
            </a:r>
            <a:endParaRPr sz="5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3220363" y="1830750"/>
            <a:ext cx="768600" cy="2415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Lost of stability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8237825" y="1352950"/>
            <a:ext cx="910800" cy="282900"/>
          </a:xfrm>
          <a:prstGeom prst="ellipse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Petrol for other market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7583775" y="1702225"/>
            <a:ext cx="910800" cy="282900"/>
          </a:xfrm>
          <a:prstGeom prst="ellipse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Depreciation of verhicle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3421400" y="1514050"/>
            <a:ext cx="768600" cy="2829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Risk in travelling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8" name="Google Shape;128;p13"/>
          <p:cNvSpPr/>
          <p:nvPr/>
        </p:nvSpPr>
        <p:spPr>
          <a:xfrm flipH="1">
            <a:off x="3466600" y="3944575"/>
            <a:ext cx="704700" cy="2829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Saving time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13"/>
          <p:cNvSpPr/>
          <p:nvPr/>
        </p:nvSpPr>
        <p:spPr>
          <a:xfrm flipH="1">
            <a:off x="4338725" y="3603775"/>
            <a:ext cx="686100" cy="5028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More leisure time or do other works 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0" name="Google Shape;130;p13"/>
          <p:cNvSpPr/>
          <p:nvPr/>
        </p:nvSpPr>
        <p:spPr>
          <a:xfrm flipH="1">
            <a:off x="6438538" y="3410163"/>
            <a:ext cx="635700" cy="1971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Health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1" name="Google Shape;131;p13"/>
          <p:cNvSpPr/>
          <p:nvPr/>
        </p:nvSpPr>
        <p:spPr>
          <a:xfrm flipH="1">
            <a:off x="5783725" y="4811225"/>
            <a:ext cx="478500" cy="2829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Safe veg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2" name="Google Shape;132;p13"/>
          <p:cNvSpPr/>
          <p:nvPr/>
        </p:nvSpPr>
        <p:spPr>
          <a:xfrm flipH="1">
            <a:off x="5638675" y="3965150"/>
            <a:ext cx="768600" cy="3543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Increase work efficiency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3" name="Google Shape;133;p13"/>
          <p:cNvSpPr/>
          <p:nvPr/>
        </p:nvSpPr>
        <p:spPr>
          <a:xfrm flipH="1">
            <a:off x="6322700" y="2956025"/>
            <a:ext cx="912600" cy="3543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Save depreciation of vehicale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4" name="Google Shape;134;p13"/>
          <p:cNvSpPr/>
          <p:nvPr/>
        </p:nvSpPr>
        <p:spPr>
          <a:xfrm flipH="1">
            <a:off x="7156550" y="3473325"/>
            <a:ext cx="781500" cy="3435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Reduce cost for healthcare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5" name="Google Shape;135;p13"/>
          <p:cNvSpPr/>
          <p:nvPr/>
        </p:nvSpPr>
        <p:spPr>
          <a:xfrm flipH="1">
            <a:off x="8309800" y="3053275"/>
            <a:ext cx="686100" cy="2829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Feeling peace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6" name="Google Shape;136;p13"/>
          <p:cNvSpPr/>
          <p:nvPr/>
        </p:nvSpPr>
        <p:spPr>
          <a:xfrm flipH="1">
            <a:off x="7316250" y="2916950"/>
            <a:ext cx="912600" cy="2829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Reduce risk of travelling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37" name="Google Shape;137;p13"/>
          <p:cNvCxnSpPr>
            <a:stCxn id="129" idx="6"/>
            <a:endCxn id="80" idx="2"/>
          </p:cNvCxnSpPr>
          <p:nvPr/>
        </p:nvCxnSpPr>
        <p:spPr>
          <a:xfrm rot="10800000">
            <a:off x="3185825" y="3674875"/>
            <a:ext cx="1152900" cy="18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" name="Google Shape;138;p13"/>
          <p:cNvCxnSpPr>
            <a:stCxn id="129" idx="1"/>
            <a:endCxn id="55" idx="3"/>
          </p:cNvCxnSpPr>
          <p:nvPr/>
        </p:nvCxnSpPr>
        <p:spPr>
          <a:xfrm flipH="1" rot="10800000">
            <a:off x="4924348" y="2813108"/>
            <a:ext cx="1553100" cy="86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13"/>
          <p:cNvSpPr/>
          <p:nvPr/>
        </p:nvSpPr>
        <p:spPr>
          <a:xfrm flipH="1">
            <a:off x="2613088" y="4008450"/>
            <a:ext cx="686100" cy="2829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Saving </a:t>
            </a: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petrol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40" name="Google Shape;140;p13"/>
          <p:cNvCxnSpPr>
            <a:stCxn id="139" idx="0"/>
            <a:endCxn id="80" idx="2"/>
          </p:cNvCxnSpPr>
          <p:nvPr/>
        </p:nvCxnSpPr>
        <p:spPr>
          <a:xfrm flipH="1" rot="10800000">
            <a:off x="2956138" y="3674850"/>
            <a:ext cx="229800" cy="3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13"/>
          <p:cNvCxnSpPr>
            <a:stCxn id="133" idx="1"/>
            <a:endCxn id="115" idx="3"/>
          </p:cNvCxnSpPr>
          <p:nvPr/>
        </p:nvCxnSpPr>
        <p:spPr>
          <a:xfrm flipH="1" rot="10800000">
            <a:off x="7101653" y="2791311"/>
            <a:ext cx="425700" cy="21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13"/>
          <p:cNvCxnSpPr>
            <a:stCxn id="115" idx="2"/>
            <a:endCxn id="55" idx="6"/>
          </p:cNvCxnSpPr>
          <p:nvPr/>
        </p:nvCxnSpPr>
        <p:spPr>
          <a:xfrm flipH="1">
            <a:off x="7183625" y="2691275"/>
            <a:ext cx="269400" cy="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13"/>
          <p:cNvSpPr/>
          <p:nvPr/>
        </p:nvSpPr>
        <p:spPr>
          <a:xfrm flipH="1">
            <a:off x="6540950" y="3859500"/>
            <a:ext cx="635700" cy="3435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Reduce cost for </a:t>
            </a: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food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5215800" y="1742150"/>
            <a:ext cx="869700" cy="354300"/>
          </a:xfrm>
          <a:prstGeom prst="ellipse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Frequency of veg available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6045075" y="1951650"/>
            <a:ext cx="849000" cy="256500"/>
          </a:xfrm>
          <a:prstGeom prst="ellipse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latin typeface="Georgia"/>
                <a:ea typeface="Georgia"/>
                <a:cs typeface="Georgia"/>
                <a:sym typeface="Georgia"/>
              </a:rPr>
              <a:t>Loss of control of snappins</a:t>
            </a:r>
            <a:endParaRPr sz="5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6987925" y="2156850"/>
            <a:ext cx="546000" cy="256500"/>
          </a:xfrm>
          <a:prstGeom prst="ellipse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latin typeface="Georgia"/>
                <a:ea typeface="Georgia"/>
                <a:cs typeface="Georgia"/>
                <a:sym typeface="Georgia"/>
              </a:rPr>
              <a:t>Poor quality</a:t>
            </a:r>
            <a:endParaRPr sz="5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47" name="Google Shape;147;p13"/>
          <p:cNvCxnSpPr>
            <a:stCxn id="146" idx="1"/>
            <a:endCxn id="145" idx="6"/>
          </p:cNvCxnSpPr>
          <p:nvPr/>
        </p:nvCxnSpPr>
        <p:spPr>
          <a:xfrm rot="10800000">
            <a:off x="6894185" y="2079814"/>
            <a:ext cx="173700" cy="11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p13"/>
          <p:cNvSpPr/>
          <p:nvPr/>
        </p:nvSpPr>
        <p:spPr>
          <a:xfrm flipH="1">
            <a:off x="6054013" y="3706213"/>
            <a:ext cx="570000" cy="1971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trust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2615012" y="2638063"/>
            <a:ext cx="768600" cy="2253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latin typeface="Georgia"/>
                <a:ea typeface="Georgia"/>
                <a:cs typeface="Georgia"/>
                <a:sym typeface="Georgia"/>
              </a:rPr>
              <a:t>Does not come from farmer I know</a:t>
            </a:r>
            <a:endParaRPr sz="4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50" name="Google Shape;150;p13"/>
          <p:cNvCxnSpPr>
            <a:stCxn id="149" idx="5"/>
            <a:endCxn id="148" idx="0"/>
          </p:cNvCxnSpPr>
          <p:nvPr/>
        </p:nvCxnSpPr>
        <p:spPr>
          <a:xfrm>
            <a:off x="3271054" y="2830368"/>
            <a:ext cx="3068100" cy="87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" name="Google Shape;151;p13"/>
          <p:cNvSpPr/>
          <p:nvPr/>
        </p:nvSpPr>
        <p:spPr>
          <a:xfrm>
            <a:off x="4935000" y="4015450"/>
            <a:ext cx="570000" cy="2829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latin typeface="Georgia"/>
                <a:ea typeface="Georgia"/>
                <a:cs typeface="Georgia"/>
                <a:sym typeface="Georgia"/>
              </a:rPr>
              <a:t>Unstable veg</a:t>
            </a:r>
            <a:endParaRPr sz="4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52" name="Google Shape;152;p13"/>
          <p:cNvCxnSpPr>
            <a:stCxn id="151" idx="5"/>
            <a:endCxn id="131" idx="0"/>
          </p:cNvCxnSpPr>
          <p:nvPr/>
        </p:nvCxnSpPr>
        <p:spPr>
          <a:xfrm>
            <a:off x="5421525" y="4256920"/>
            <a:ext cx="601500" cy="55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" name="Google Shape;153;p13"/>
          <p:cNvSpPr/>
          <p:nvPr/>
        </p:nvSpPr>
        <p:spPr>
          <a:xfrm>
            <a:off x="4866225" y="2611313"/>
            <a:ext cx="686100" cy="2166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latin typeface="Georgia"/>
                <a:ea typeface="Georgia"/>
                <a:cs typeface="Georgia"/>
                <a:sym typeface="Georgia"/>
              </a:rPr>
              <a:t>Reduce nutrition if we eat less</a:t>
            </a:r>
            <a:endParaRPr sz="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3503000" y="4767350"/>
            <a:ext cx="781500" cy="3699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reliance on supply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124475" y="3623175"/>
            <a:ext cx="827400" cy="6156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Buy without choice become dependent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1143800" y="3601250"/>
            <a:ext cx="704700" cy="3435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Not satisfied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57" name="Google Shape;157;p13"/>
          <p:cNvCxnSpPr>
            <a:stCxn id="154" idx="6"/>
            <a:endCxn id="151" idx="3"/>
          </p:cNvCxnSpPr>
          <p:nvPr/>
        </p:nvCxnSpPr>
        <p:spPr>
          <a:xfrm flipH="1" rot="10800000">
            <a:off x="4284500" y="4256900"/>
            <a:ext cx="734100" cy="69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" name="Google Shape;158;p13"/>
          <p:cNvSpPr/>
          <p:nvPr/>
        </p:nvSpPr>
        <p:spPr>
          <a:xfrm>
            <a:off x="1859450" y="4444625"/>
            <a:ext cx="1011300" cy="3699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need to buy more expensive in time afraid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59" name="Google Shape;159;p13"/>
          <p:cNvCxnSpPr>
            <a:stCxn id="154" idx="2"/>
            <a:endCxn id="158" idx="6"/>
          </p:cNvCxnSpPr>
          <p:nvPr/>
        </p:nvCxnSpPr>
        <p:spPr>
          <a:xfrm rot="10800000">
            <a:off x="2870900" y="4629500"/>
            <a:ext cx="6321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" name="Google Shape;160;p13"/>
          <p:cNvSpPr/>
          <p:nvPr/>
        </p:nvSpPr>
        <p:spPr>
          <a:xfrm flipH="1">
            <a:off x="5232877" y="3688463"/>
            <a:ext cx="704700" cy="2829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Less medicine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61" name="Google Shape;161;p13"/>
          <p:cNvCxnSpPr>
            <a:stCxn id="160" idx="0"/>
            <a:endCxn id="130" idx="6"/>
          </p:cNvCxnSpPr>
          <p:nvPr/>
        </p:nvCxnSpPr>
        <p:spPr>
          <a:xfrm flipH="1" rot="10800000">
            <a:off x="5585227" y="3508763"/>
            <a:ext cx="853200" cy="17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" name="Google Shape;162;p13"/>
          <p:cNvSpPr/>
          <p:nvPr/>
        </p:nvSpPr>
        <p:spPr>
          <a:xfrm>
            <a:off x="4162400" y="2317462"/>
            <a:ext cx="781500" cy="2964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Less nutritious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3" name="Google Shape;163;p13"/>
          <p:cNvSpPr/>
          <p:nvPr/>
        </p:nvSpPr>
        <p:spPr>
          <a:xfrm flipH="1">
            <a:off x="4563675" y="3271450"/>
            <a:ext cx="825000" cy="2415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Enjoy good food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4" name="Google Shape;164;p13"/>
          <p:cNvSpPr/>
          <p:nvPr/>
        </p:nvSpPr>
        <p:spPr>
          <a:xfrm flipH="1">
            <a:off x="3821425" y="3548500"/>
            <a:ext cx="570000" cy="1797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Taste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65" name="Google Shape;165;p13"/>
          <p:cNvCxnSpPr>
            <a:stCxn id="164" idx="1"/>
            <a:endCxn id="163" idx="5"/>
          </p:cNvCxnSpPr>
          <p:nvPr/>
        </p:nvCxnSpPr>
        <p:spPr>
          <a:xfrm flipH="1" rot="10800000">
            <a:off x="4307950" y="3477616"/>
            <a:ext cx="376500" cy="9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" name="Google Shape;166;p13"/>
          <p:cNvSpPr/>
          <p:nvPr/>
        </p:nvSpPr>
        <p:spPr>
          <a:xfrm flipH="1">
            <a:off x="3668525" y="3134375"/>
            <a:ext cx="849000" cy="1797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Georgia"/>
                <a:ea typeface="Georgia"/>
                <a:cs typeface="Georgia"/>
                <a:sym typeface="Georgia"/>
              </a:rPr>
              <a:t>Appearance</a:t>
            </a:r>
            <a:endParaRPr sz="6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67" name="Google Shape;167;p13"/>
          <p:cNvCxnSpPr>
            <a:stCxn id="166" idx="2"/>
            <a:endCxn id="163" idx="7"/>
          </p:cNvCxnSpPr>
          <p:nvPr/>
        </p:nvCxnSpPr>
        <p:spPr>
          <a:xfrm>
            <a:off x="4517525" y="3224225"/>
            <a:ext cx="167100" cy="8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13"/>
          <p:cNvCxnSpPr>
            <a:stCxn id="163" idx="1"/>
            <a:endCxn id="55" idx="3"/>
          </p:cNvCxnSpPr>
          <p:nvPr/>
        </p:nvCxnSpPr>
        <p:spPr>
          <a:xfrm flipH="1" rot="10800000">
            <a:off x="5267857" y="2813317"/>
            <a:ext cx="1209600" cy="49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p13"/>
          <p:cNvSpPr/>
          <p:nvPr/>
        </p:nvSpPr>
        <p:spPr>
          <a:xfrm>
            <a:off x="3166475" y="3242125"/>
            <a:ext cx="478500" cy="2166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latin typeface="Georgia"/>
                <a:ea typeface="Georgia"/>
                <a:cs typeface="Georgia"/>
                <a:sym typeface="Georgia"/>
              </a:rPr>
              <a:t>Poor taste</a:t>
            </a:r>
            <a:endParaRPr sz="4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70" name="Google Shape;170;p13"/>
          <p:cNvCxnSpPr>
            <a:stCxn id="169" idx="5"/>
            <a:endCxn id="164" idx="7"/>
          </p:cNvCxnSpPr>
          <p:nvPr/>
        </p:nvCxnSpPr>
        <p:spPr>
          <a:xfrm>
            <a:off x="3574900" y="3427005"/>
            <a:ext cx="330000" cy="14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1" name="Google Shape;171;p13"/>
          <p:cNvSpPr/>
          <p:nvPr/>
        </p:nvSpPr>
        <p:spPr>
          <a:xfrm>
            <a:off x="3703100" y="2729638"/>
            <a:ext cx="686100" cy="216600"/>
          </a:xfrm>
          <a:prstGeom prst="ellipse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latin typeface="Georgia"/>
                <a:ea typeface="Georgia"/>
                <a:cs typeface="Georgia"/>
                <a:sym typeface="Georgia"/>
              </a:rPr>
              <a:t>Problems with delivery</a:t>
            </a:r>
            <a:endParaRPr sz="4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72" name="Google Shape;172;p13"/>
          <p:cNvCxnSpPr>
            <a:stCxn id="153" idx="4"/>
            <a:endCxn id="163" idx="1"/>
          </p:cNvCxnSpPr>
          <p:nvPr/>
        </p:nvCxnSpPr>
        <p:spPr>
          <a:xfrm>
            <a:off x="5209275" y="2827913"/>
            <a:ext cx="58500" cy="4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13"/>
          <p:cNvCxnSpPr>
            <a:stCxn id="122" idx="1"/>
            <a:endCxn id="121" idx="4"/>
          </p:cNvCxnSpPr>
          <p:nvPr/>
        </p:nvCxnSpPr>
        <p:spPr>
          <a:xfrm rot="10800000">
            <a:off x="1478520" y="2353683"/>
            <a:ext cx="268800" cy="43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13"/>
          <p:cNvCxnSpPr>
            <a:stCxn id="122" idx="6"/>
            <a:endCxn id="148" idx="0"/>
          </p:cNvCxnSpPr>
          <p:nvPr/>
        </p:nvCxnSpPr>
        <p:spPr>
          <a:xfrm>
            <a:off x="2584400" y="2922463"/>
            <a:ext cx="3754500" cy="78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13"/>
          <p:cNvCxnSpPr>
            <a:stCxn id="171" idx="7"/>
            <a:endCxn id="162" idx="4"/>
          </p:cNvCxnSpPr>
          <p:nvPr/>
        </p:nvCxnSpPr>
        <p:spPr>
          <a:xfrm flipH="1" rot="10800000">
            <a:off x="4288723" y="2613758"/>
            <a:ext cx="264300" cy="14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13"/>
          <p:cNvCxnSpPr>
            <a:stCxn id="171" idx="0"/>
            <a:endCxn id="113" idx="5"/>
          </p:cNvCxnSpPr>
          <p:nvPr/>
        </p:nvCxnSpPr>
        <p:spPr>
          <a:xfrm rot="10800000">
            <a:off x="3888950" y="2387938"/>
            <a:ext cx="157200" cy="3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" name="Google Shape;177;p13"/>
          <p:cNvCxnSpPr>
            <a:stCxn id="171" idx="3"/>
            <a:endCxn id="169" idx="0"/>
          </p:cNvCxnSpPr>
          <p:nvPr/>
        </p:nvCxnSpPr>
        <p:spPr>
          <a:xfrm flipH="1">
            <a:off x="3405777" y="2914517"/>
            <a:ext cx="397800" cy="3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13"/>
          <p:cNvCxnSpPr>
            <a:stCxn id="121" idx="6"/>
            <a:endCxn id="123" idx="2"/>
          </p:cNvCxnSpPr>
          <p:nvPr/>
        </p:nvCxnSpPr>
        <p:spPr>
          <a:xfrm>
            <a:off x="1751375" y="2233025"/>
            <a:ext cx="292500" cy="1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13"/>
          <p:cNvCxnSpPr>
            <a:stCxn id="127" idx="5"/>
            <a:endCxn id="65" idx="2"/>
          </p:cNvCxnSpPr>
          <p:nvPr/>
        </p:nvCxnSpPr>
        <p:spPr>
          <a:xfrm>
            <a:off x="4077441" y="1755520"/>
            <a:ext cx="1366800" cy="57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13"/>
          <p:cNvCxnSpPr>
            <a:stCxn id="124" idx="6"/>
            <a:endCxn id="65" idx="2"/>
          </p:cNvCxnSpPr>
          <p:nvPr/>
        </p:nvCxnSpPr>
        <p:spPr>
          <a:xfrm>
            <a:off x="3988963" y="1951500"/>
            <a:ext cx="1455300" cy="37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13"/>
          <p:cNvCxnSpPr>
            <a:stCxn id="171" idx="6"/>
            <a:endCxn id="65" idx="2"/>
          </p:cNvCxnSpPr>
          <p:nvPr/>
        </p:nvCxnSpPr>
        <p:spPr>
          <a:xfrm flipH="1" rot="10800000">
            <a:off x="4389200" y="2326438"/>
            <a:ext cx="1055100" cy="51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13"/>
          <p:cNvCxnSpPr>
            <a:stCxn id="111" idx="6"/>
            <a:endCxn id="65" idx="2"/>
          </p:cNvCxnSpPr>
          <p:nvPr/>
        </p:nvCxnSpPr>
        <p:spPr>
          <a:xfrm>
            <a:off x="3347663" y="1702584"/>
            <a:ext cx="2096700" cy="62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" name="Google Shape;183;p13"/>
          <p:cNvCxnSpPr>
            <a:stCxn id="110" idx="6"/>
            <a:endCxn id="65" idx="2"/>
          </p:cNvCxnSpPr>
          <p:nvPr/>
        </p:nvCxnSpPr>
        <p:spPr>
          <a:xfrm>
            <a:off x="2492413" y="1959713"/>
            <a:ext cx="2951700" cy="36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13"/>
          <p:cNvCxnSpPr>
            <a:stCxn id="109" idx="5"/>
            <a:endCxn id="65" idx="2"/>
          </p:cNvCxnSpPr>
          <p:nvPr/>
        </p:nvCxnSpPr>
        <p:spPr>
          <a:xfrm>
            <a:off x="1528080" y="1910576"/>
            <a:ext cx="3916200" cy="41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13"/>
          <p:cNvCxnSpPr>
            <a:stCxn id="108" idx="6"/>
            <a:endCxn id="65" idx="2"/>
          </p:cNvCxnSpPr>
          <p:nvPr/>
        </p:nvCxnSpPr>
        <p:spPr>
          <a:xfrm flipH="1" rot="10800000">
            <a:off x="1208600" y="2326300"/>
            <a:ext cx="4235700" cy="9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13"/>
          <p:cNvCxnSpPr>
            <a:stCxn id="148" idx="0"/>
            <a:endCxn id="65" idx="4"/>
          </p:cNvCxnSpPr>
          <p:nvPr/>
        </p:nvCxnSpPr>
        <p:spPr>
          <a:xfrm rot="10800000">
            <a:off x="5835013" y="2503513"/>
            <a:ext cx="504000" cy="120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13"/>
          <p:cNvCxnSpPr>
            <a:stCxn id="112" idx="6"/>
            <a:endCxn id="65" idx="2"/>
          </p:cNvCxnSpPr>
          <p:nvPr/>
        </p:nvCxnSpPr>
        <p:spPr>
          <a:xfrm flipH="1" rot="10800000">
            <a:off x="1361000" y="2326409"/>
            <a:ext cx="4083300" cy="6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13"/>
          <p:cNvCxnSpPr>
            <a:stCxn id="85" idx="6"/>
            <a:endCxn id="148" idx="6"/>
          </p:cNvCxnSpPr>
          <p:nvPr/>
        </p:nvCxnSpPr>
        <p:spPr>
          <a:xfrm>
            <a:off x="1469600" y="3318625"/>
            <a:ext cx="4584300" cy="48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13"/>
          <p:cNvCxnSpPr>
            <a:stCxn id="65" idx="4"/>
            <a:endCxn id="80" idx="2"/>
          </p:cNvCxnSpPr>
          <p:nvPr/>
        </p:nvCxnSpPr>
        <p:spPr>
          <a:xfrm flipH="1">
            <a:off x="3185991" y="2503537"/>
            <a:ext cx="2649000" cy="117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13"/>
          <p:cNvCxnSpPr>
            <a:stCxn id="65" idx="4"/>
            <a:endCxn id="82" idx="2"/>
          </p:cNvCxnSpPr>
          <p:nvPr/>
        </p:nvCxnSpPr>
        <p:spPr>
          <a:xfrm flipH="1">
            <a:off x="4319091" y="2503537"/>
            <a:ext cx="1515900" cy="199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13"/>
          <p:cNvCxnSpPr>
            <a:stCxn id="156" idx="6"/>
            <a:endCxn id="65" idx="4"/>
          </p:cNvCxnSpPr>
          <p:nvPr/>
        </p:nvCxnSpPr>
        <p:spPr>
          <a:xfrm flipH="1" rot="10800000">
            <a:off x="1848500" y="2503400"/>
            <a:ext cx="3986400" cy="126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13"/>
          <p:cNvCxnSpPr>
            <a:stCxn id="84" idx="6"/>
            <a:endCxn id="65" idx="4"/>
          </p:cNvCxnSpPr>
          <p:nvPr/>
        </p:nvCxnSpPr>
        <p:spPr>
          <a:xfrm flipH="1" rot="10800000">
            <a:off x="1528075" y="2503575"/>
            <a:ext cx="4306800" cy="193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13"/>
          <p:cNvCxnSpPr>
            <a:stCxn id="155" idx="6"/>
            <a:endCxn id="156" idx="2"/>
          </p:cNvCxnSpPr>
          <p:nvPr/>
        </p:nvCxnSpPr>
        <p:spPr>
          <a:xfrm flipH="1" rot="10800000">
            <a:off x="951875" y="3772875"/>
            <a:ext cx="192000" cy="15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13"/>
          <p:cNvCxnSpPr>
            <a:stCxn id="130" idx="2"/>
            <a:endCxn id="134" idx="7"/>
          </p:cNvCxnSpPr>
          <p:nvPr/>
        </p:nvCxnSpPr>
        <p:spPr>
          <a:xfrm>
            <a:off x="7074238" y="3508713"/>
            <a:ext cx="196800" cy="1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p13"/>
          <p:cNvCxnSpPr>
            <a:stCxn id="134" idx="0"/>
            <a:endCxn id="115" idx="4"/>
          </p:cNvCxnSpPr>
          <p:nvPr/>
        </p:nvCxnSpPr>
        <p:spPr>
          <a:xfrm flipH="1" rot="10800000">
            <a:off x="7547300" y="2832825"/>
            <a:ext cx="159300" cy="6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13"/>
          <p:cNvCxnSpPr>
            <a:stCxn id="136" idx="1"/>
            <a:endCxn id="115" idx="6"/>
          </p:cNvCxnSpPr>
          <p:nvPr/>
        </p:nvCxnSpPr>
        <p:spPr>
          <a:xfrm rot="10800000">
            <a:off x="7959903" y="2691380"/>
            <a:ext cx="135300" cy="26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13"/>
          <p:cNvCxnSpPr>
            <a:stCxn id="116" idx="2"/>
            <a:endCxn id="55" idx="6"/>
          </p:cNvCxnSpPr>
          <p:nvPr/>
        </p:nvCxnSpPr>
        <p:spPr>
          <a:xfrm rot="10800000">
            <a:off x="7183550" y="2713175"/>
            <a:ext cx="1141500" cy="3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13"/>
          <p:cNvCxnSpPr>
            <a:stCxn id="135" idx="0"/>
            <a:endCxn id="116" idx="4"/>
          </p:cNvCxnSpPr>
          <p:nvPr/>
        </p:nvCxnSpPr>
        <p:spPr>
          <a:xfrm flipH="1" rot="10800000">
            <a:off x="8652850" y="2885875"/>
            <a:ext cx="63000" cy="16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" name="Google Shape;199;p13"/>
          <p:cNvCxnSpPr>
            <a:stCxn id="120" idx="0"/>
            <a:endCxn id="135" idx="4"/>
          </p:cNvCxnSpPr>
          <p:nvPr/>
        </p:nvCxnSpPr>
        <p:spPr>
          <a:xfrm flipH="1" rot="10800000">
            <a:off x="8547150" y="3336125"/>
            <a:ext cx="105600" cy="1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13"/>
          <p:cNvCxnSpPr>
            <a:stCxn id="131" idx="2"/>
            <a:endCxn id="120" idx="3"/>
          </p:cNvCxnSpPr>
          <p:nvPr/>
        </p:nvCxnSpPr>
        <p:spPr>
          <a:xfrm flipH="1" rot="10800000">
            <a:off x="6262225" y="3696275"/>
            <a:ext cx="1912500" cy="125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13"/>
          <p:cNvCxnSpPr>
            <a:stCxn id="119" idx="7"/>
            <a:endCxn id="117" idx="5"/>
          </p:cNvCxnSpPr>
          <p:nvPr/>
        </p:nvCxnSpPr>
        <p:spPr>
          <a:xfrm rot="10800000">
            <a:off x="7060980" y="4554330"/>
            <a:ext cx="1902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13"/>
          <p:cNvCxnSpPr>
            <a:stCxn id="119" idx="7"/>
            <a:endCxn id="118" idx="3"/>
          </p:cNvCxnSpPr>
          <p:nvPr/>
        </p:nvCxnSpPr>
        <p:spPr>
          <a:xfrm flipH="1" rot="10800000">
            <a:off x="7251180" y="4773030"/>
            <a:ext cx="206400" cy="7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13"/>
          <p:cNvCxnSpPr>
            <a:endCxn id="115" idx="4"/>
          </p:cNvCxnSpPr>
          <p:nvPr/>
        </p:nvCxnSpPr>
        <p:spPr>
          <a:xfrm rot="10800000">
            <a:off x="7706525" y="2832725"/>
            <a:ext cx="43500" cy="108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13"/>
          <p:cNvCxnSpPr>
            <a:stCxn id="136" idx="2"/>
            <a:endCxn id="135" idx="7"/>
          </p:cNvCxnSpPr>
          <p:nvPr/>
        </p:nvCxnSpPr>
        <p:spPr>
          <a:xfrm>
            <a:off x="8228850" y="3058400"/>
            <a:ext cx="181500" cy="3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13"/>
          <p:cNvCxnSpPr>
            <a:endCxn id="148" idx="4"/>
          </p:cNvCxnSpPr>
          <p:nvPr/>
        </p:nvCxnSpPr>
        <p:spPr>
          <a:xfrm rot="10800000">
            <a:off x="6339013" y="3903313"/>
            <a:ext cx="336000" cy="40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6" name="Google Shape;206;p13"/>
          <p:cNvCxnSpPr>
            <a:stCxn id="130" idx="5"/>
            <a:endCxn id="132" idx="0"/>
          </p:cNvCxnSpPr>
          <p:nvPr/>
        </p:nvCxnSpPr>
        <p:spPr>
          <a:xfrm flipH="1">
            <a:off x="6022834" y="3578398"/>
            <a:ext cx="508800" cy="38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" name="Google Shape;207;p13"/>
          <p:cNvCxnSpPr>
            <a:stCxn id="125" idx="2"/>
            <a:endCxn id="57" idx="6"/>
          </p:cNvCxnSpPr>
          <p:nvPr/>
        </p:nvCxnSpPr>
        <p:spPr>
          <a:xfrm flipH="1">
            <a:off x="7390025" y="1494400"/>
            <a:ext cx="847800" cy="2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13"/>
          <p:cNvCxnSpPr>
            <a:stCxn id="126" idx="2"/>
            <a:endCxn id="57" idx="6"/>
          </p:cNvCxnSpPr>
          <p:nvPr/>
        </p:nvCxnSpPr>
        <p:spPr>
          <a:xfrm rot="10800000">
            <a:off x="7389975" y="1701775"/>
            <a:ext cx="193800" cy="14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13"/>
          <p:cNvCxnSpPr>
            <a:stCxn id="57" idx="4"/>
            <a:endCxn id="55" idx="0"/>
          </p:cNvCxnSpPr>
          <p:nvPr/>
        </p:nvCxnSpPr>
        <p:spPr>
          <a:xfrm flipH="1">
            <a:off x="6769800" y="1878900"/>
            <a:ext cx="229500" cy="69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" name="Google Shape;210;p13"/>
          <p:cNvCxnSpPr>
            <a:stCxn id="143" idx="0"/>
            <a:endCxn id="115" idx="3"/>
          </p:cNvCxnSpPr>
          <p:nvPr/>
        </p:nvCxnSpPr>
        <p:spPr>
          <a:xfrm flipH="1" rot="10800000">
            <a:off x="6858800" y="2791200"/>
            <a:ext cx="668400" cy="106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13"/>
          <p:cNvCxnSpPr>
            <a:stCxn id="130" idx="1"/>
            <a:endCxn id="115" idx="3"/>
          </p:cNvCxnSpPr>
          <p:nvPr/>
        </p:nvCxnSpPr>
        <p:spPr>
          <a:xfrm flipH="1" rot="10800000">
            <a:off x="6981141" y="2791327"/>
            <a:ext cx="546000" cy="64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" name="Google Shape;212;p13"/>
          <p:cNvCxnSpPr>
            <a:stCxn id="118" idx="1"/>
            <a:endCxn id="148" idx="4"/>
          </p:cNvCxnSpPr>
          <p:nvPr/>
        </p:nvCxnSpPr>
        <p:spPr>
          <a:xfrm rot="10800000">
            <a:off x="6338920" y="3903455"/>
            <a:ext cx="1118700" cy="66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13"/>
          <p:cNvCxnSpPr>
            <a:stCxn id="128" idx="2"/>
            <a:endCxn id="130" idx="6"/>
          </p:cNvCxnSpPr>
          <p:nvPr/>
        </p:nvCxnSpPr>
        <p:spPr>
          <a:xfrm flipH="1" rot="10800000">
            <a:off x="4171300" y="3508825"/>
            <a:ext cx="2267100" cy="57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" name="Google Shape;214;p13"/>
          <p:cNvCxnSpPr>
            <a:stCxn id="128" idx="7"/>
            <a:endCxn id="80" idx="2"/>
          </p:cNvCxnSpPr>
          <p:nvPr/>
        </p:nvCxnSpPr>
        <p:spPr>
          <a:xfrm rot="10800000">
            <a:off x="3185801" y="3674905"/>
            <a:ext cx="384000" cy="3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" name="Google Shape;215;p13"/>
          <p:cNvCxnSpPr>
            <a:endCxn id="55" idx="3"/>
          </p:cNvCxnSpPr>
          <p:nvPr/>
        </p:nvCxnSpPr>
        <p:spPr>
          <a:xfrm rot="10800000">
            <a:off x="6477370" y="2813220"/>
            <a:ext cx="279000" cy="59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" name="Google Shape;216;p13"/>
          <p:cNvCxnSpPr>
            <a:endCxn id="65" idx="4"/>
          </p:cNvCxnSpPr>
          <p:nvPr/>
        </p:nvCxnSpPr>
        <p:spPr>
          <a:xfrm rot="10800000">
            <a:off x="5834991" y="2503537"/>
            <a:ext cx="696600" cy="93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